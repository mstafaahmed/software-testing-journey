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71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9541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846320"/>
            <a:ext cx="3840480" cy="3840480"/>
          </a:xfrm>
          <a:prstGeom prst="ellipse">
            <a:avLst/>
          </a:prstGeom>
          <a:solidFill>
            <a:srgbClr val="065A8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789920" y="4023360"/>
            <a:ext cx="2377440" cy="237744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22960" y="21488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MANAGEMENT SYSTEM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063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Project — Design, Implementation &amp; Documentation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68680" y="3703320"/>
            <a:ext cx="2011680" cy="0"/>
          </a:xfrm>
          <a:prstGeom prst="line">
            <a:avLst/>
          </a:prstGeom>
          <a:noFill/>
          <a:ln w="3810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22960" y="397764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DEPI – Software Testing Track  |  Java Fundamentals
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Ass. Prof. Mina Younan   •   Prepared by: Mostafa Ahmed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EAF2F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" name="Text 3"/>
          <p:cNvSpPr txBox="1"/>
          <p:nvPr/>
        </p:nvSpPr>
        <p:spPr>
          <a:xfrm>
            <a:off x="777240" y="1764792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746504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130552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Purpose, scope &amp; assignment requirements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160020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EAF2F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9" name="Text 7"/>
          <p:cNvSpPr txBox="1"/>
          <p:nvPr/>
        </p:nvSpPr>
        <p:spPr>
          <a:xfrm>
            <a:off x="6492240" y="1764792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7269480" y="1746504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7269480" y="2130552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hierarchy, relationships &amp; design decisions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EAF2F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3" name="Text 11"/>
          <p:cNvSpPr txBox="1"/>
          <p:nvPr/>
        </p:nvSpPr>
        <p:spPr>
          <a:xfrm>
            <a:off x="777240" y="3182112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3163824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Pillars in Practice</a:t>
            </a:r>
            <a:endParaRPr lang="en-US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3547872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Encapsulation, inheritance, polymorphism, abstraction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63640" y="301752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EAF2F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7" name="Text 15"/>
          <p:cNvSpPr txBox="1"/>
          <p:nvPr/>
        </p:nvSpPr>
        <p:spPr>
          <a:xfrm>
            <a:off x="6492240" y="3182112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600" dirty="0"/>
          </a:p>
        </p:txBody>
      </p:sp>
      <p:sp>
        <p:nvSpPr>
          <p:cNvPr id="18" name="Text 16"/>
          <p:cNvSpPr txBox="1"/>
          <p:nvPr/>
        </p:nvSpPr>
        <p:spPr>
          <a:xfrm>
            <a:off x="7269480" y="3163824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dirty="0"/>
          </a:p>
        </p:txBody>
      </p:sp>
      <p:sp>
        <p:nvSpPr>
          <p:cNvPr id="19" name="Text 17"/>
          <p:cNvSpPr txBox="1"/>
          <p:nvPr/>
        </p:nvSpPr>
        <p:spPr>
          <a:xfrm>
            <a:off x="7269480" y="3547872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Student, course, instructor, grade &amp; attendance management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43484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EAF2F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1" name="Text 19"/>
          <p:cNvSpPr txBox="1"/>
          <p:nvPr/>
        </p:nvSpPr>
        <p:spPr>
          <a:xfrm>
            <a:off x="777240" y="4599432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6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4581144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Testing</a:t>
            </a:r>
            <a:endParaRPr lang="en-US" dirty="0"/>
          </a:p>
        </p:txBody>
      </p:sp>
      <p:sp>
        <p:nvSpPr>
          <p:cNvPr id="23" name="Text 21"/>
          <p:cNvSpPr txBox="1"/>
          <p:nvPr/>
        </p:nvSpPr>
        <p:spPr>
          <a:xfrm>
            <a:off x="1554480" y="4965192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 and recommended test cases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263640" y="443484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EAF2F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5" name="Text 23"/>
          <p:cNvSpPr txBox="1"/>
          <p:nvPr/>
        </p:nvSpPr>
        <p:spPr>
          <a:xfrm>
            <a:off x="6492240" y="4599432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600" dirty="0"/>
          </a:p>
        </p:txBody>
      </p:sp>
      <p:sp>
        <p:nvSpPr>
          <p:cNvPr id="26" name="Text 24"/>
          <p:cNvSpPr txBox="1"/>
          <p:nvPr/>
        </p:nvSpPr>
        <p:spPr>
          <a:xfrm>
            <a:off x="7269480" y="4581144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Roadmap</a:t>
            </a:r>
            <a:endParaRPr lang="en-US" dirty="0"/>
          </a:p>
        </p:txBody>
      </p:sp>
      <p:sp>
        <p:nvSpPr>
          <p:cNvPr id="27" name="Text 25"/>
          <p:cNvSpPr txBox="1"/>
          <p:nvPr/>
        </p:nvSpPr>
        <p:spPr>
          <a:xfrm>
            <a:off x="7269480" y="4965192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 for the project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ASSIGNMENT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Required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Java-based student management system that lets administrators manage student information, grades, and attendance.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2359152"/>
            <a:ext cx="256032" cy="256032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6" name="Text 4"/>
          <p:cNvSpPr txBox="1"/>
          <p:nvPr/>
        </p:nvSpPr>
        <p:spPr>
          <a:xfrm>
            <a:off x="548640" y="23591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✓</a:t>
            </a: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3317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for students, courses, instructors, and grades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256032" cy="256032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9" name="Text 7"/>
          <p:cNvSpPr txBox="1"/>
          <p:nvPr/>
        </p:nvSpPr>
        <p:spPr>
          <a:xfrm>
            <a:off x="548640" y="30175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✓</a:t>
            </a:r>
            <a:endParaRPr lang="en-US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2990088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&amp; polymorphism for different student / instructor types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675888"/>
            <a:ext cx="256032" cy="256032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12" name="Text 10"/>
          <p:cNvSpPr txBox="1"/>
          <p:nvPr/>
        </p:nvSpPr>
        <p:spPr>
          <a:xfrm>
            <a:off x="548640" y="367588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✓</a:t>
            </a:r>
            <a:endParaRPr lang="en-US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3648456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 to protect data and control access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48640" y="4334256"/>
            <a:ext cx="256032" cy="256032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15" name="Text 13"/>
          <p:cNvSpPr txBox="1"/>
          <p:nvPr/>
        </p:nvSpPr>
        <p:spPr>
          <a:xfrm>
            <a:off x="548640" y="43342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✓</a:t>
            </a:r>
            <a:endParaRPr lang="en-US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4306824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for student management: add, edit, delete records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48640" y="4992624"/>
            <a:ext cx="256032" cy="256032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18" name="Text 16"/>
          <p:cNvSpPr txBox="1"/>
          <p:nvPr/>
        </p:nvSpPr>
        <p:spPr>
          <a:xfrm>
            <a:off x="548640" y="49926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✓</a:t>
            </a:r>
            <a:endParaRPr lang="en-US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4965192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management methods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48640" y="5650992"/>
            <a:ext cx="256032" cy="256032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21" name="Text 19"/>
          <p:cNvSpPr txBox="1"/>
          <p:nvPr/>
        </p:nvSpPr>
        <p:spPr>
          <a:xfrm>
            <a:off x="548640" y="565099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✓</a:t>
            </a:r>
            <a:endParaRPr lang="en-US" dirty="0"/>
          </a:p>
        </p:txBody>
      </p:sp>
      <p:sp>
        <p:nvSpPr>
          <p:cNvPr id="22" name="Text 20"/>
          <p:cNvSpPr txBox="1"/>
          <p:nvPr/>
        </p:nvSpPr>
        <p:spPr>
          <a:xfrm>
            <a:off x="960120" y="56235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to record and calculate grades for students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3672" y="320040"/>
            <a:ext cx="7380168" cy="389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CHECK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2812" y="594359"/>
            <a:ext cx="10885748" cy="8347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Requirement, Fulfilled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3696585"/>
              </p:ext>
            </p:extLst>
          </p:nvPr>
        </p:nvGraphicFramePr>
        <p:xfrm>
          <a:off x="450376" y="1417319"/>
          <a:ext cx="11162503" cy="4696880"/>
        </p:xfrm>
        <a:graphic>
          <a:graphicData uri="http://schemas.openxmlformats.org/drawingml/2006/table">
            <a:tbl>
              <a:tblPr/>
              <a:tblGrid>
                <a:gridCol w="4981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81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92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65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Fulfilled By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00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Students / courses / instructors / grades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P_Student, Course, P_Instructor, Grade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8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00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Inheritance &amp; polymorphism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 -&gt; P_Student / P_Instructor -&gt; 4 concrete subtypes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8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00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Encapsulation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 fields, validating setters throughout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8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00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/ edit / delete + course management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StudentManager CRUD layer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8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00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 &amp; calculate grades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 + StudentManager.calculateOverallGPA()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8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00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Attendance tracking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Attendance, AttendanceStatus (bonus)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2A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11517380" y="6473951"/>
            <a:ext cx="461260" cy="3339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46120"/>
            <a:ext cx="164592" cy="457200"/>
          </a:xfrm>
          <a:prstGeom prst="rect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39" y="320040"/>
            <a:ext cx="762648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2490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Hierarchy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937759" y="1417320"/>
            <a:ext cx="2383277" cy="502920"/>
          </a:xfrm>
          <a:prstGeom prst="roundRect">
            <a:avLst>
              <a:gd name="adj" fmla="val 10909"/>
            </a:avLst>
          </a:prstGeom>
          <a:solidFill>
            <a:srgbClr val="21295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5" name="Text 3"/>
          <p:cNvSpPr txBox="1"/>
          <p:nvPr/>
        </p:nvSpPr>
        <p:spPr>
          <a:xfrm>
            <a:off x="4937759" y="1417320"/>
            <a:ext cx="2383277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(abstract)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 flipH="1">
            <a:off x="3108960" y="1920240"/>
            <a:ext cx="3098260" cy="594360"/>
          </a:xfrm>
          <a:prstGeom prst="line">
            <a:avLst/>
          </a:prstGeom>
          <a:noFill/>
          <a:ln w="15875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7" name="Shape 5"/>
          <p:cNvSpPr/>
          <p:nvPr/>
        </p:nvSpPr>
        <p:spPr>
          <a:xfrm>
            <a:off x="6080760" y="1920240"/>
            <a:ext cx="3098260" cy="594360"/>
          </a:xfrm>
          <a:prstGeom prst="line">
            <a:avLst/>
          </a:prstGeom>
          <a:noFill/>
          <a:ln w="15875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8" name="Shape 6"/>
          <p:cNvSpPr/>
          <p:nvPr/>
        </p:nvSpPr>
        <p:spPr>
          <a:xfrm>
            <a:off x="1874519" y="2514600"/>
            <a:ext cx="2383277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9" name="Text 7"/>
          <p:cNvSpPr txBox="1"/>
          <p:nvPr/>
        </p:nvSpPr>
        <p:spPr>
          <a:xfrm>
            <a:off x="1874519" y="2514600"/>
            <a:ext cx="2383277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P_Student (abstract)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7909559" y="2514600"/>
            <a:ext cx="2383277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1" name="Text 9"/>
          <p:cNvSpPr txBox="1"/>
          <p:nvPr/>
        </p:nvSpPr>
        <p:spPr>
          <a:xfrm>
            <a:off x="7909559" y="2514600"/>
            <a:ext cx="2383277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P_Instructor (abstract)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 flipH="1">
            <a:off x="1508759" y="3017520"/>
            <a:ext cx="1572963" cy="640080"/>
          </a:xfrm>
          <a:prstGeom prst="line">
            <a:avLst/>
          </a:prstGeom>
          <a:noFill/>
          <a:ln w="15875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3" name="Shape 11"/>
          <p:cNvSpPr/>
          <p:nvPr/>
        </p:nvSpPr>
        <p:spPr>
          <a:xfrm>
            <a:off x="3017520" y="3017520"/>
            <a:ext cx="238328" cy="640080"/>
          </a:xfrm>
          <a:prstGeom prst="line">
            <a:avLst/>
          </a:prstGeom>
          <a:noFill/>
          <a:ln w="15875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4" name="Shape 12"/>
          <p:cNvSpPr/>
          <p:nvPr/>
        </p:nvSpPr>
        <p:spPr>
          <a:xfrm>
            <a:off x="274319" y="3657600"/>
            <a:ext cx="2383277" cy="50292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5" name="Text 13"/>
          <p:cNvSpPr txBox="1"/>
          <p:nvPr/>
        </p:nvSpPr>
        <p:spPr>
          <a:xfrm>
            <a:off x="274319" y="3657600"/>
            <a:ext cx="2383277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P_S_Undergraduate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2651759" y="3657600"/>
            <a:ext cx="2383277" cy="50292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7" name="Text 15"/>
          <p:cNvSpPr txBox="1"/>
          <p:nvPr/>
        </p:nvSpPr>
        <p:spPr>
          <a:xfrm>
            <a:off x="2651759" y="3657600"/>
            <a:ext cx="2383277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P_S_Postgraduate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 flipH="1">
            <a:off x="7578089" y="3017520"/>
            <a:ext cx="1453799" cy="640080"/>
          </a:xfrm>
          <a:prstGeom prst="line">
            <a:avLst/>
          </a:prstGeom>
          <a:noFill/>
          <a:ln w="15875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9" name="Shape 17"/>
          <p:cNvSpPr/>
          <p:nvPr/>
        </p:nvSpPr>
        <p:spPr>
          <a:xfrm>
            <a:off x="9052560" y="3017520"/>
            <a:ext cx="810314" cy="640080"/>
          </a:xfrm>
          <a:prstGeom prst="line">
            <a:avLst/>
          </a:prstGeom>
          <a:noFill/>
          <a:ln w="15875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0" name="Shape 18"/>
          <p:cNvSpPr/>
          <p:nvPr/>
        </p:nvSpPr>
        <p:spPr>
          <a:xfrm>
            <a:off x="6309359" y="3657600"/>
            <a:ext cx="2383277" cy="50292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1" name="Text 19"/>
          <p:cNvSpPr txBox="1"/>
          <p:nvPr/>
        </p:nvSpPr>
        <p:spPr>
          <a:xfrm>
            <a:off x="6309359" y="3657600"/>
            <a:ext cx="2383277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P_I_Lecturer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8686799" y="3657600"/>
            <a:ext cx="2383277" cy="50292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3" name="Text 21"/>
          <p:cNvSpPr txBox="1"/>
          <p:nvPr/>
        </p:nvSpPr>
        <p:spPr>
          <a:xfrm>
            <a:off x="8686799" y="3657600"/>
            <a:ext cx="2383277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P_I_Professor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274320" y="4617720"/>
            <a:ext cx="2240280" cy="502920"/>
          </a:xfrm>
          <a:prstGeom prst="roundRect">
            <a:avLst>
              <a:gd name="adj" fmla="val 10909"/>
            </a:avLst>
          </a:prstGeom>
          <a:solidFill>
            <a:srgbClr val="F2A93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5" name="Text 23"/>
          <p:cNvSpPr txBox="1"/>
          <p:nvPr/>
        </p:nvSpPr>
        <p:spPr>
          <a:xfrm>
            <a:off x="274320" y="461772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2606040" y="4617720"/>
            <a:ext cx="2240280" cy="502920"/>
          </a:xfrm>
          <a:prstGeom prst="roundRect">
            <a:avLst>
              <a:gd name="adj" fmla="val 10909"/>
            </a:avLst>
          </a:prstGeom>
          <a:solidFill>
            <a:srgbClr val="F2A93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7" name="Text 25"/>
          <p:cNvSpPr txBox="1"/>
          <p:nvPr/>
        </p:nvSpPr>
        <p:spPr>
          <a:xfrm>
            <a:off x="2606040" y="461772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</a:t>
            </a: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4937760" y="4617720"/>
            <a:ext cx="2240280" cy="502920"/>
          </a:xfrm>
          <a:prstGeom prst="roundRect">
            <a:avLst>
              <a:gd name="adj" fmla="val 10909"/>
            </a:avLst>
          </a:prstGeom>
          <a:solidFill>
            <a:srgbClr val="F2A93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9" name="Text 27"/>
          <p:cNvSpPr txBox="1"/>
          <p:nvPr/>
        </p:nvSpPr>
        <p:spPr>
          <a:xfrm>
            <a:off x="4937760" y="461772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7269479" y="4617720"/>
            <a:ext cx="2383277" cy="822960"/>
          </a:xfrm>
          <a:prstGeom prst="roundRect">
            <a:avLst>
              <a:gd name="adj" fmla="val 6667"/>
            </a:avLst>
          </a:prstGeom>
          <a:solidFill>
            <a:srgbClr val="21295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31" name="Text 29"/>
          <p:cNvSpPr txBox="1"/>
          <p:nvPr/>
        </p:nvSpPr>
        <p:spPr>
          <a:xfrm>
            <a:off x="7269479" y="4617720"/>
            <a:ext cx="2383277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StudentManager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(CRUD Facade)</a:t>
            </a: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9738360" y="4617720"/>
            <a:ext cx="2240280" cy="822960"/>
          </a:xfrm>
          <a:prstGeom prst="roundRect">
            <a:avLst>
              <a:gd name="adj" fmla="val 6667"/>
            </a:avLst>
          </a:prstGeom>
          <a:solidFill>
            <a:srgbClr val="3B4A9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33" name="Text 31"/>
          <p:cNvSpPr txBox="1"/>
          <p:nvPr/>
        </p:nvSpPr>
        <p:spPr>
          <a:xfrm>
            <a:off x="9738360" y="461772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StudentManagement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(main)</a:t>
            </a:r>
            <a:endParaRPr lang="en-US" dirty="0"/>
          </a:p>
        </p:txBody>
      </p:sp>
      <p:sp>
        <p:nvSpPr>
          <p:cNvPr id="34" name="Text 32"/>
          <p:cNvSpPr txBox="1"/>
          <p:nvPr/>
        </p:nvSpPr>
        <p:spPr>
          <a:xfrm>
            <a:off x="548639" y="5806440"/>
            <a:ext cx="1153505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boxes = inheritance chain   •   Amber / navy boxes = composed &amp; aggregated by StudentManager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1521439" y="6473952"/>
            <a:ext cx="476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Relationships &amp; Design Decisions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EAF2F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" name="Text 3"/>
          <p:cNvSpPr txBox="1"/>
          <p:nvPr/>
        </p:nvSpPr>
        <p:spPr>
          <a:xfrm>
            <a:off x="822960" y="1645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031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is-a: P_S_Undergraduate -&gt; P_Student -&gt; Person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7004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is-a: P_I_Professor -&gt; P_Instructor -&gt; Person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3697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has-a: Course -&gt; one P_Instructor + many P_Student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803904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has-a: Grade -&gt; one P_Student + one Course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37083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has-a: Attendance -&gt; P_Student + Course + date + status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937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aggregates: StudentManager -&gt; all of the above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72200" y="146304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3" name="Text 11"/>
          <p:cNvSpPr txBox="1"/>
          <p:nvPr/>
        </p:nvSpPr>
        <p:spPr>
          <a:xfrm>
            <a:off x="6446520" y="1645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14884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Abstract base classes carry shared state &amp; force type-specific overrides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301752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Every field is private; setters validate before assignment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388620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Composition over duplication: Grade/Attendance reference, not copy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475488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StudentManager is a Facade — one entry point for all CRUD logic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46120"/>
            <a:ext cx="164592" cy="457200"/>
          </a:xfrm>
          <a:prstGeom prst="rect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OOP Pillars in Practice</a:t>
            </a:r>
            <a:endParaRPr lang="en-US" sz="3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Pillars, Demonstrated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2240280"/>
          </a:xfrm>
          <a:prstGeom prst="roundRect">
            <a:avLst>
              <a:gd name="adj" fmla="val 3265"/>
            </a:avLst>
          </a:prstGeom>
          <a:solidFill>
            <a:srgbClr val="EAF2F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 txBox="1"/>
          <p:nvPr/>
        </p:nvSpPr>
        <p:spPr>
          <a:xfrm>
            <a:off x="822960" y="1737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175564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6032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field is private. Constructors and setters validate input (e.g. GPA 0-4, credit hours 1-4) and throw IllegalArgumentException on bad data.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26480" y="1463040"/>
            <a:ext cx="5349240" cy="2240280"/>
          </a:xfrm>
          <a:prstGeom prst="roundRect">
            <a:avLst>
              <a:gd name="adj" fmla="val 3265"/>
            </a:avLst>
          </a:prstGeom>
          <a:solidFill>
            <a:srgbClr val="EAF2F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0" name="Shape 8"/>
          <p:cNvSpPr/>
          <p:nvPr/>
        </p:nvSpPr>
        <p:spPr>
          <a:xfrm>
            <a:off x="6400800" y="173736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 txBox="1"/>
          <p:nvPr/>
        </p:nvSpPr>
        <p:spPr>
          <a:xfrm>
            <a:off x="6400800" y="1737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175564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56032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is the root; P_Student and P_Instructor extend it; four concrete classes extend those — shared code lives once, in the base class.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349240" cy="2240280"/>
          </a:xfrm>
          <a:prstGeom prst="roundRect">
            <a:avLst>
              <a:gd name="adj" fmla="val 3265"/>
            </a:avLst>
          </a:prstGeom>
          <a:solidFill>
            <a:srgbClr val="EAF2F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5" name="Shape 13"/>
          <p:cNvSpPr/>
          <p:nvPr/>
        </p:nvSpPr>
        <p:spPr>
          <a:xfrm>
            <a:off x="822960" y="4206240"/>
            <a:ext cx="731520" cy="73152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6" name="Text 14"/>
          <p:cNvSpPr txBox="1"/>
          <p:nvPr/>
        </p:nvSpPr>
        <p:spPr>
          <a:xfrm>
            <a:off x="822960" y="4206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1737360" y="422452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02920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Person[] can hold any mix of students &amp; instructors — calling displayInfo() runs the correct overridden version for each object at runtime.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26480" y="3931920"/>
            <a:ext cx="5349240" cy="2240280"/>
          </a:xfrm>
          <a:prstGeom prst="roundRect">
            <a:avLst>
              <a:gd name="adj" fmla="val 3265"/>
            </a:avLst>
          </a:prstGeom>
          <a:solidFill>
            <a:srgbClr val="EAF2F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0" name="Shape 18"/>
          <p:cNvSpPr/>
          <p:nvPr/>
        </p:nvSpPr>
        <p:spPr>
          <a:xfrm>
            <a:off x="6400800" y="4206240"/>
            <a:ext cx="731520" cy="731520"/>
          </a:xfrm>
          <a:prstGeom prst="ellipse">
            <a:avLst/>
          </a:prstGeom>
          <a:solidFill>
            <a:srgbClr val="3B4A9E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1" name="Text 19"/>
          <p:cNvSpPr txBox="1"/>
          <p:nvPr/>
        </p:nvSpPr>
        <p:spPr>
          <a:xfrm>
            <a:off x="6400800" y="4206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32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0" y="422452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502920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Person, P_Student and P_Instructor are abstract — they declare displayInfo()/getStudentType()/getInstructorType() without implementing them.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46120"/>
            <a:ext cx="164592" cy="457200"/>
          </a:xfrm>
          <a:prstGeom prst="rect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04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Features</a:t>
            </a:r>
            <a:endParaRPr lang="en-US" sz="3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LAYER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StudentManager — The Facade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class owns five collections and every add / edit / delete / find operation the system supports.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606040" cy="3840480"/>
          </a:xfrm>
          <a:prstGeom prst="roundRect">
            <a:avLst>
              <a:gd name="adj" fmla="val 2807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 sz="3200"/>
          </a:p>
        </p:txBody>
      </p:sp>
      <p:sp>
        <p:nvSpPr>
          <p:cNvPr id="6" name="Text 4"/>
          <p:cNvSpPr txBox="1"/>
          <p:nvPr/>
        </p:nvSpPr>
        <p:spPr>
          <a:xfrm>
            <a:off x="731520" y="21945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834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addStudent()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383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editStudent()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931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deleteStudent()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480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findStudentById()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5029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displayAllStudents()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337560" y="2057400"/>
            <a:ext cx="2606040" cy="3840480"/>
          </a:xfrm>
          <a:prstGeom prst="roundRect">
            <a:avLst>
              <a:gd name="adj" fmla="val 2807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 sz="3200"/>
          </a:p>
        </p:txBody>
      </p:sp>
      <p:sp>
        <p:nvSpPr>
          <p:cNvPr id="13" name="Text 11"/>
          <p:cNvSpPr txBox="1"/>
          <p:nvPr/>
        </p:nvSpPr>
        <p:spPr>
          <a:xfrm>
            <a:off x="3520440" y="21945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3520440" y="2834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addCourse()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520440" y="3383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editCourse()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520440" y="3931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deleteCourse()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520440" y="4480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findCourseById()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520440" y="5029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displayAllCourses()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080760" y="2057400"/>
            <a:ext cx="2819400" cy="3840480"/>
          </a:xfrm>
          <a:prstGeom prst="roundRect">
            <a:avLst>
              <a:gd name="adj" fmla="val 2807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 sz="3200"/>
          </a:p>
        </p:txBody>
      </p:sp>
      <p:sp>
        <p:nvSpPr>
          <p:cNvPr id="20" name="Text 18"/>
          <p:cNvSpPr txBox="1"/>
          <p:nvPr/>
        </p:nvSpPr>
        <p:spPr>
          <a:xfrm>
            <a:off x="6309360" y="21945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Instructors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2834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addInstructor()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309360" y="3383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deleteInstructor</a:t>
            </a: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39319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findInstructorById()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309360" y="4480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getAllInstructors()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037320" y="2057400"/>
            <a:ext cx="2606040" cy="3840480"/>
          </a:xfrm>
          <a:prstGeom prst="roundRect">
            <a:avLst>
              <a:gd name="adj" fmla="val 2807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 sz="3200"/>
          </a:p>
        </p:txBody>
      </p:sp>
      <p:sp>
        <p:nvSpPr>
          <p:cNvPr id="26" name="Text 24"/>
          <p:cNvSpPr txBox="1"/>
          <p:nvPr/>
        </p:nvSpPr>
        <p:spPr>
          <a:xfrm>
            <a:off x="9098280" y="21945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&amp; Attendance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9098280" y="2834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recordGrade()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9098280" y="3383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calculateOverallGPA()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9098280" y="3931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recordAttendance()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9098280" y="4480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getAttendanceForStudent()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Grades &amp; Attendance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EAF2F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" name="Text 3"/>
          <p:cNvSpPr txBox="1"/>
          <p:nvPr/>
        </p:nvSpPr>
        <p:spPr>
          <a:xfrm>
            <a:off x="822960" y="1645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Calculation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55293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 </a:t>
            </a:r>
            <a:r>
              <a:rPr lang="en-US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10 pts
</a:t>
            </a:r>
            <a:r>
              <a:rPr lang="en-US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Midterm  </a:t>
            </a:r>
            <a:r>
              <a:rPr lang="en-US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30 pts
</a:t>
            </a:r>
            <a:r>
              <a:rPr lang="en-US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Exam  </a:t>
            </a:r>
            <a:r>
              <a:rPr lang="en-US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60 pts
A</a:t>
            </a: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61188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→ Percentage → Letter Grade (A ≥ 90, B ≥ 80, C ≥ 70, D ≥ 60, F &lt; 60). </a:t>
            </a:r>
          </a:p>
          <a:p>
            <a:pPr marL="0" indent="0">
              <a:buNone/>
            </a:pP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StudentManager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also averages a student's grades into an overall 0–4 GPA.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46304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EAF2F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9" name="Text 7"/>
          <p:cNvSpPr txBox="1"/>
          <p:nvPr/>
        </p:nvSpPr>
        <p:spPr>
          <a:xfrm>
            <a:off x="6446520" y="1645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Tracking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446520" y="2194560"/>
            <a:ext cx="1828800" cy="502920"/>
          </a:xfrm>
          <a:prstGeom prst="roundRect">
            <a:avLst>
              <a:gd name="adj" fmla="val 50909"/>
            </a:avLst>
          </a:prstGeom>
          <a:solidFill>
            <a:srgbClr val="1B8A5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 txBox="1"/>
          <p:nvPr/>
        </p:nvSpPr>
        <p:spPr>
          <a:xfrm>
            <a:off x="6446520" y="21945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46520" y="2971800"/>
            <a:ext cx="1828800" cy="502920"/>
          </a:xfrm>
          <a:prstGeom prst="roundRect">
            <a:avLst>
              <a:gd name="adj" fmla="val 50909"/>
            </a:avLst>
          </a:prstGeom>
          <a:solidFill>
            <a:srgbClr val="F2A93B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3" name="Text 11"/>
          <p:cNvSpPr txBox="1"/>
          <p:nvPr/>
        </p:nvSpPr>
        <p:spPr>
          <a:xfrm>
            <a:off x="6446520" y="29718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46520" y="3749040"/>
            <a:ext cx="1828800" cy="502920"/>
          </a:xfrm>
          <a:prstGeom prst="roundRect">
            <a:avLst>
              <a:gd name="adj" fmla="val 50909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5" name="Text 13"/>
          <p:cNvSpPr txBox="1"/>
          <p:nvPr/>
        </p:nvSpPr>
        <p:spPr>
          <a:xfrm>
            <a:off x="6446520" y="37490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503920" y="224028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Attendance record links one student, one course, a date and a status. StudentManager can retrieve a full attendance history per student on demand.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Rules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034879"/>
              </p:ext>
            </p:extLst>
          </p:nvPr>
        </p:nvGraphicFramePr>
        <p:xfrm>
          <a:off x="548640" y="1463040"/>
          <a:ext cx="11064240" cy="4114800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 (any Person)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0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contain "@" and "."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GPA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– 4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 credit hours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– 4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Assignment / Midterm / Final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0–10 / 0–30 / 0–60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Instructor hire year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1997 – 2026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rule is enforced inside a setter and throws IllegalArgumentException — invalid objects can never be constructed.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Execution Flow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1101852" y="3017520"/>
            <a:ext cx="9957816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5" name="Shape 3"/>
          <p:cNvSpPr/>
          <p:nvPr/>
        </p:nvSpPr>
        <p:spPr>
          <a:xfrm>
            <a:off x="955548" y="2871216"/>
            <a:ext cx="292608" cy="292608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6" name="Text 4"/>
          <p:cNvSpPr txBox="1"/>
          <p:nvPr/>
        </p:nvSpPr>
        <p:spPr>
          <a:xfrm>
            <a:off x="594360" y="2057400"/>
            <a:ext cx="1014984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students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1101852" y="2889504"/>
            <a:ext cx="0" cy="128016"/>
          </a:xfrm>
          <a:prstGeom prst="line">
            <a:avLst/>
          </a:prstGeom>
          <a:noFill/>
          <a:ln w="12700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8" name="Shape 6"/>
          <p:cNvSpPr/>
          <p:nvPr/>
        </p:nvSpPr>
        <p:spPr>
          <a:xfrm>
            <a:off x="2061972" y="2871216"/>
            <a:ext cx="292608" cy="292608"/>
          </a:xfrm>
          <a:prstGeom prst="ellipse">
            <a:avLst/>
          </a:prstGeom>
          <a:solidFill>
            <a:srgbClr val="F2A93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9" name="Text 7"/>
          <p:cNvSpPr txBox="1"/>
          <p:nvPr/>
        </p:nvSpPr>
        <p:spPr>
          <a:xfrm>
            <a:off x="1700784" y="3337560"/>
            <a:ext cx="101498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&amp; display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2208276" y="3017520"/>
            <a:ext cx="0" cy="128016"/>
          </a:xfrm>
          <a:prstGeom prst="line">
            <a:avLst/>
          </a:prstGeom>
          <a:noFill/>
          <a:ln w="12700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11" name="Shape 9"/>
          <p:cNvSpPr/>
          <p:nvPr/>
        </p:nvSpPr>
        <p:spPr>
          <a:xfrm>
            <a:off x="3168396" y="2871216"/>
            <a:ext cx="292608" cy="292608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12" name="Text 10"/>
          <p:cNvSpPr txBox="1"/>
          <p:nvPr/>
        </p:nvSpPr>
        <p:spPr>
          <a:xfrm>
            <a:off x="2807208" y="2057400"/>
            <a:ext cx="1014984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a record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314700" y="2889504"/>
            <a:ext cx="0" cy="128016"/>
          </a:xfrm>
          <a:prstGeom prst="line">
            <a:avLst/>
          </a:prstGeom>
          <a:noFill/>
          <a:ln w="12700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14" name="Shape 12"/>
          <p:cNvSpPr/>
          <p:nvPr/>
        </p:nvSpPr>
        <p:spPr>
          <a:xfrm>
            <a:off x="4274820" y="2871216"/>
            <a:ext cx="292608" cy="292608"/>
          </a:xfrm>
          <a:prstGeom prst="ellipse">
            <a:avLst/>
          </a:prstGeom>
          <a:solidFill>
            <a:srgbClr val="F2A93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15" name="Text 13"/>
          <p:cNvSpPr txBox="1"/>
          <p:nvPr/>
        </p:nvSpPr>
        <p:spPr>
          <a:xfrm>
            <a:off x="3913632" y="3337560"/>
            <a:ext cx="101498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instructors &amp; courses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421124" y="3017520"/>
            <a:ext cx="0" cy="128016"/>
          </a:xfrm>
          <a:prstGeom prst="line">
            <a:avLst/>
          </a:prstGeom>
          <a:noFill/>
          <a:ln w="12700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17" name="Shape 15"/>
          <p:cNvSpPr/>
          <p:nvPr/>
        </p:nvSpPr>
        <p:spPr>
          <a:xfrm>
            <a:off x="5381244" y="2871216"/>
            <a:ext cx="292608" cy="292608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18" name="Text 16"/>
          <p:cNvSpPr txBox="1"/>
          <p:nvPr/>
        </p:nvSpPr>
        <p:spPr>
          <a:xfrm>
            <a:off x="5020056" y="2057400"/>
            <a:ext cx="1014984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 &amp; assign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527548" y="2889504"/>
            <a:ext cx="0" cy="128016"/>
          </a:xfrm>
          <a:prstGeom prst="line">
            <a:avLst/>
          </a:prstGeom>
          <a:noFill/>
          <a:ln w="12700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20" name="Shape 18"/>
          <p:cNvSpPr/>
          <p:nvPr/>
        </p:nvSpPr>
        <p:spPr>
          <a:xfrm>
            <a:off x="6487668" y="2871216"/>
            <a:ext cx="292608" cy="292608"/>
          </a:xfrm>
          <a:prstGeom prst="ellipse">
            <a:avLst/>
          </a:prstGeom>
          <a:solidFill>
            <a:srgbClr val="F2A93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21" name="Text 19"/>
          <p:cNvSpPr txBox="1"/>
          <p:nvPr/>
        </p:nvSpPr>
        <p:spPr>
          <a:xfrm>
            <a:off x="6126480" y="3337560"/>
            <a:ext cx="101498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grades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6633972" y="3017520"/>
            <a:ext cx="0" cy="128016"/>
          </a:xfrm>
          <a:prstGeom prst="line">
            <a:avLst/>
          </a:prstGeom>
          <a:noFill/>
          <a:ln w="12700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23" name="Shape 21"/>
          <p:cNvSpPr/>
          <p:nvPr/>
        </p:nvSpPr>
        <p:spPr>
          <a:xfrm>
            <a:off x="7594092" y="2871216"/>
            <a:ext cx="292608" cy="292608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24" name="Text 22"/>
          <p:cNvSpPr txBox="1"/>
          <p:nvPr/>
        </p:nvSpPr>
        <p:spPr>
          <a:xfrm>
            <a:off x="7232904" y="2057400"/>
            <a:ext cx="1014984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GPA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7740396" y="2889504"/>
            <a:ext cx="0" cy="128016"/>
          </a:xfrm>
          <a:prstGeom prst="line">
            <a:avLst/>
          </a:prstGeom>
          <a:noFill/>
          <a:ln w="12700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26" name="Shape 24"/>
          <p:cNvSpPr/>
          <p:nvPr/>
        </p:nvSpPr>
        <p:spPr>
          <a:xfrm>
            <a:off x="8700516" y="2871216"/>
            <a:ext cx="292608" cy="292608"/>
          </a:xfrm>
          <a:prstGeom prst="ellipse">
            <a:avLst/>
          </a:prstGeom>
          <a:solidFill>
            <a:srgbClr val="F2A93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27" name="Text 25"/>
          <p:cNvSpPr txBox="1"/>
          <p:nvPr/>
        </p:nvSpPr>
        <p:spPr>
          <a:xfrm>
            <a:off x="8339328" y="3337560"/>
            <a:ext cx="101498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attendance</a:t>
            </a: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8846820" y="3017520"/>
            <a:ext cx="0" cy="128016"/>
          </a:xfrm>
          <a:prstGeom prst="line">
            <a:avLst/>
          </a:prstGeom>
          <a:noFill/>
          <a:ln w="12700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29" name="Shape 27"/>
          <p:cNvSpPr/>
          <p:nvPr/>
        </p:nvSpPr>
        <p:spPr>
          <a:xfrm>
            <a:off x="9806940" y="2871216"/>
            <a:ext cx="292608" cy="292608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30" name="Text 28"/>
          <p:cNvSpPr txBox="1"/>
          <p:nvPr/>
        </p:nvSpPr>
        <p:spPr>
          <a:xfrm>
            <a:off x="9445752" y="2057400"/>
            <a:ext cx="1014984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demo</a:t>
            </a: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9953244" y="2889504"/>
            <a:ext cx="0" cy="128016"/>
          </a:xfrm>
          <a:prstGeom prst="line">
            <a:avLst/>
          </a:prstGeom>
          <a:noFill/>
          <a:ln w="12700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32" name="Shape 30"/>
          <p:cNvSpPr/>
          <p:nvPr/>
        </p:nvSpPr>
        <p:spPr>
          <a:xfrm>
            <a:off x="10913364" y="2871216"/>
            <a:ext cx="292608" cy="292608"/>
          </a:xfrm>
          <a:prstGeom prst="ellipse">
            <a:avLst/>
          </a:prstGeom>
          <a:solidFill>
            <a:srgbClr val="F2A93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33" name="Text 31"/>
          <p:cNvSpPr txBox="1"/>
          <p:nvPr/>
        </p:nvSpPr>
        <p:spPr>
          <a:xfrm>
            <a:off x="10552176" y="3337560"/>
            <a:ext cx="101498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 test</a:t>
            </a: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11059668" y="3017520"/>
            <a:ext cx="0" cy="128016"/>
          </a:xfrm>
          <a:prstGeom prst="line">
            <a:avLst/>
          </a:prstGeom>
          <a:noFill/>
          <a:ln w="12700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35" name="Text 33"/>
          <p:cNvSpPr txBox="1"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StudentManagementSystem.main() runs this sequence end-to-end, printing a formatted report after every step.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TRACK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Test Cases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20440" cy="4480560"/>
          </a:xfrm>
          <a:prstGeom prst="roundRect">
            <a:avLst>
              <a:gd name="adj" fmla="val 2078"/>
            </a:avLst>
          </a:prstGeom>
          <a:solidFill>
            <a:srgbClr val="EAF2F6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5" name="Text 3"/>
          <p:cNvSpPr txBox="1"/>
          <p:nvPr/>
        </p:nvSpPr>
        <p:spPr>
          <a:xfrm>
            <a:off x="777240" y="16459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Tests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402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GPA at exactly 0 and 4</a:t>
            </a: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175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Credit hours at 1 and 4</a:t>
            </a:r>
            <a:endParaRPr lang="en-US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79476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Grade fields at their max (10/30/60)</a:t>
            </a:r>
            <a:endParaRPr lang="en-US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5720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Hire year at 1997 and 2026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251960" y="1463040"/>
            <a:ext cx="3520440" cy="4480560"/>
          </a:xfrm>
          <a:prstGeom prst="roundRect">
            <a:avLst>
              <a:gd name="adj" fmla="val 2078"/>
            </a:avLst>
          </a:prstGeom>
          <a:solidFill>
            <a:srgbClr val="EAF2F6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11" name="Text 9"/>
          <p:cNvSpPr txBox="1"/>
          <p:nvPr/>
        </p:nvSpPr>
        <p:spPr>
          <a:xfrm>
            <a:off x="4480560" y="16459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Facade (StudentManager)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22402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Duplicate-ID add throws</a:t>
            </a:r>
            <a:endParaRPr lang="en-US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30175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Delete unenrolls from all courses</a:t>
            </a:r>
            <a:endParaRPr lang="en-US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379476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editStudent() ignores null fields</a:t>
            </a:r>
            <a:endParaRPr lang="en-US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45720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GPA = 0.0 with no grades recorded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7955280" y="1463040"/>
            <a:ext cx="3520440" cy="4480560"/>
          </a:xfrm>
          <a:prstGeom prst="roundRect">
            <a:avLst>
              <a:gd name="adj" fmla="val 2078"/>
            </a:avLst>
          </a:prstGeom>
          <a:solidFill>
            <a:srgbClr val="EAF2F6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17" name="Text 15"/>
          <p:cNvSpPr txBox="1"/>
          <p:nvPr/>
        </p:nvSpPr>
        <p:spPr>
          <a:xfrm>
            <a:off x="8183880" y="16459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183880" y="22402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displayInfo() via Person reference</a:t>
            </a:r>
            <a:endParaRPr lang="en-US" dirty="0"/>
          </a:p>
        </p:txBody>
      </p:sp>
      <p:sp>
        <p:nvSpPr>
          <p:cNvPr id="19" name="Text 17"/>
          <p:cNvSpPr txBox="1"/>
          <p:nvPr/>
        </p:nvSpPr>
        <p:spPr>
          <a:xfrm>
            <a:off x="8183880" y="30175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getStudentType()/getInstructorType() per subtype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Roadmap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05840" cy="54864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155448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only data, no persistence between runs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1005840" cy="54864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8" name="Text 6"/>
          <p:cNvSpPr txBox="1"/>
          <p:nvPr/>
        </p:nvSpPr>
        <p:spPr>
          <a:xfrm>
            <a:off x="548640" y="242316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dirty="0"/>
          </a:p>
        </p:txBody>
      </p:sp>
      <p:sp>
        <p:nvSpPr>
          <p:cNvPr id="9" name="Text 7"/>
          <p:cNvSpPr txBox="1"/>
          <p:nvPr/>
        </p:nvSpPr>
        <p:spPr>
          <a:xfrm>
            <a:off x="1783080" y="242316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Scripted demo in main() — no interactive menu yet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1005840" cy="54864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11" name="Text 9"/>
          <p:cNvSpPr txBox="1"/>
          <p:nvPr/>
        </p:nvSpPr>
        <p:spPr>
          <a:xfrm>
            <a:off x="548640" y="329184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dirty="0"/>
          </a:p>
        </p:txBody>
      </p:sp>
      <p:sp>
        <p:nvSpPr>
          <p:cNvPr id="12" name="Text 10"/>
          <p:cNvSpPr txBox="1"/>
          <p:nvPr/>
        </p:nvSpPr>
        <p:spPr>
          <a:xfrm>
            <a:off x="1783080" y="329184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file/DB persistence (CSV, JSON, or JDBC)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4160520"/>
            <a:ext cx="1005840" cy="54864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14" name="Text 12"/>
          <p:cNvSpPr txBox="1"/>
          <p:nvPr/>
        </p:nvSpPr>
        <p:spPr>
          <a:xfrm>
            <a:off x="548640" y="416052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dirty="0"/>
          </a:p>
        </p:txBody>
      </p:sp>
      <p:sp>
        <p:nvSpPr>
          <p:cNvPr id="15" name="Text 13"/>
          <p:cNvSpPr txBox="1"/>
          <p:nvPr/>
        </p:nvSpPr>
        <p:spPr>
          <a:xfrm>
            <a:off x="1783080" y="416052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Scanner-based interactive admin menu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1005840" cy="54864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17" name="Text 15"/>
          <p:cNvSpPr txBox="1"/>
          <p:nvPr/>
        </p:nvSpPr>
        <p:spPr>
          <a:xfrm>
            <a:off x="548640" y="502920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dirty="0"/>
          </a:p>
        </p:txBody>
      </p:sp>
      <p:sp>
        <p:nvSpPr>
          <p:cNvPr id="18" name="Text 16"/>
          <p:cNvSpPr txBox="1"/>
          <p:nvPr/>
        </p:nvSpPr>
        <p:spPr>
          <a:xfrm>
            <a:off x="1783080" y="502920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JUnit test suite covering Section 8's cases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3657600" cy="3657600"/>
          </a:xfrm>
          <a:prstGeom prst="ellipse">
            <a:avLst/>
          </a:prstGeom>
          <a:solidFill>
            <a:srgbClr val="065A82">
              <a:alpha val="35000"/>
            </a:srgbClr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 txBox="1"/>
          <p:nvPr/>
        </p:nvSpPr>
        <p:spPr>
          <a:xfrm>
            <a:off x="822960" y="26517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5204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Management System — a complete demonstration of encapsulation, inheritance, polymorphism and abstraction in Java.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3891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Mostafa Ahmed  •  DEPI Software Testing Track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1071</Words>
  <Application>Microsoft Office PowerPoint</Application>
  <PresentationFormat>Widescreen</PresentationFormat>
  <Paragraphs>238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Management System</dc:title>
  <dc:subject>PptxGenJS Presentation</dc:subject>
  <dc:creator>Mostafa Ahmed</dc:creator>
  <cp:lastModifiedBy>Mustafa Morsi</cp:lastModifiedBy>
  <cp:revision>10</cp:revision>
  <dcterms:created xsi:type="dcterms:W3CDTF">2026-09-10T21:38:51Z</dcterms:created>
  <dcterms:modified xsi:type="dcterms:W3CDTF">2026-09-10T21:48:51Z</dcterms:modified>
</cp:coreProperties>
</file>